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3657600"/>
            <a:ext cx="9144000" cy="9144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7F3D0"/>
                </a:solidFill>
                <a:latin typeface="Calibri"/>
              </a:rPr>
              <a:t>APPRESENTAÇÃO INTERNA ·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Rodada de Melhorias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7F3D0"/>
                </a:solidFill>
                <a:latin typeface="Calibri"/>
              </a:rPr>
              <a:t>Assinatura, Applicash e infraestrutura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7F3D0"/>
                </a:solidFill>
                <a:latin typeface="Calibri"/>
              </a:rPr>
              <a:t>Maio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7F3D0"/>
                </a:solidFill>
                <a:latin typeface="Calibri"/>
              </a:rPr>
              <a:t>Appliquei · Plataforma de Gestão Financeira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Por que essa rodada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A camada de monetização precisava amadurecer antes de escalar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Calibri"/>
              </a:rPr>
              <a:t>💰  RECEITA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4A42"/>
                </a:solidFill>
                <a:latin typeface="Calibri"/>
              </a:rPr>
              <a:t>Bugs silenciosos podiam gerar perda de cobrança, cancelamentos não executados e cobrança após churn — risco direto em caixa.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Cancel sem efeito real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Pagamento confirmado mas bloqueado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Cancelamento server-side invisível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Calibri"/>
              </a:rPr>
              <a:t>🎨  CONVERSÃO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4A42"/>
                </a:solidFill>
                <a:latin typeface="Calibri"/>
              </a:rPr>
              <a:t>Tela de assinatura era simples demais para um produto cobrando R$ 15/mês recorrente. Programa Applicash não conectava com a fatura.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Sem progresso visual do trial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Applicash desconectado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Reativação quebrada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6118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4E3B"/>
                </a:solidFill>
                <a:latin typeface="Calibri"/>
              </a:rPr>
              <a:t>🛡️  ESCALABILIDADE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4A42"/>
                </a:solidFill>
                <a:latin typeface="Calibri"/>
              </a:rPr>
              <a:t>Faltava observabilidade, validações de identidade rigorosas e camadas de segurança esperadas para os próximos 1.000-10.000 assinantes.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CPF lixo aceito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Brechas via DevTools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• Logs como única observação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D75"/>
                </a:solidFill>
                <a:latin typeface="Calibri"/>
              </a:rPr>
              <a:t>Esta rodada entrega 6 commits, atacando as três frentes em paralelo.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Receita protegida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Bugs corrigidos com impacto direto em caixa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Problema antes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Risco financeiro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Cancelar no app falhava silenciosamente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Cliente cobrado após cancelar · reclamação + chargeback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Corrigido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Pagamento confirmado podia ficar pendente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Cliente paga mas não tem acesso · reembolso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Auto-sync defensivo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Cancelamento no provedor não era detectado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Receita 'fantasma' · sistema diz ativo, na prática inativo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Detecção a cada 1h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Cliente que cancelou não reativava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Perda de win-back de churn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Botão Reativar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CPF inválido entrava no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Faturas que o provedor rejeita depois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Validação rigorosa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Janela bloqueada destruía sessão no PIX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Usuário perdia o link · não pagava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200">
                          <a:solidFill>
                            <a:srgbClr val="0B1410"/>
                          </a:solidFill>
                          <a:latin typeface="Calibri"/>
                        </a:rPr>
                        <a:t>✓ Fallback inline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2120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📊  IMPACTO FINANCEIRO ESTIMADO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0B1410"/>
                </a:solidFill>
                <a:latin typeface="Calibri"/>
              </a:rPr>
              <a:t>Cada um destes casos, ocorrendo com 1% dos assinantes ativos, custaria R$ 100–500/mês em receita perdida + custo de suporte. Agora zerados.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Nova tela de assinatura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Padrão visual de Spotify/Notion · em vez de lista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O QUE A NOVA TELA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Hero colorido por estado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Trial · Ativa · Pendente · Atenção · Cancelada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Barra de progresso do trial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'Dia 3 de 7' + dias restantes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Próxima cobrança visível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Valor após Applicash + dias até a cobrança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Applicash integrado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Saldo a abater, indicados ativos, cobertura da próxima fatura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Métodos de pagamento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Bandeira do cartão · últimos 4 dígitos · trocar em 1 clique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Histórico com PDFs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Comprovante · Boleto · Fatura conforme o status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1410"/>
                </a:solidFill>
                <a:latin typeface="Calibri"/>
              </a:rPr>
              <a:t>• Reativação em 1 clique</a:t>
            </a:r>
            <a:r>
              <a:rPr sz="1100" b="0">
                <a:solidFill>
                  <a:srgbClr val="384A42"/>
                </a:solidFill>
                <a:latin typeface="Calibri"/>
              </a:rPr>
              <a:t> — Sem perder o cupom Applicash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91640"/>
            <a:ext cx="46634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965960"/>
            <a:ext cx="4114800" cy="155448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103120"/>
            <a:ext cx="256032" cy="274320"/>
          </a:xfrm>
          <a:prstGeom prst="roundRect">
            <a:avLst>
              <a:gd name="adj" fmla="val 50000"/>
            </a:avLst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800" b="1">
                <a:solidFill>
                  <a:srgbClr val="064E3B"/>
                </a:solidFill>
                <a:latin typeface="Calibri"/>
              </a:rPr>
              <a:t>AVALIAÇÃO GRATUITA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23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 dias restantes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88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Calibri"/>
              </a:rPr>
              <a:t>Dia 2 de 7 · termina 26 mai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154680"/>
            <a:ext cx="3749039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3154680"/>
            <a:ext cx="1097280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3703320"/>
            <a:ext cx="1325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379476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D75"/>
                </a:solidFill>
                <a:latin typeface="Calibri"/>
              </a:rPr>
              <a:t>PLANO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402336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Mensal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4165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D75"/>
                </a:solidFill>
                <a:latin typeface="Calibri"/>
              </a:rPr>
              <a:t>Auto-renova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03320"/>
            <a:ext cx="1325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379476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D75"/>
                </a:solidFill>
                <a:latin typeface="Calibri"/>
              </a:rPr>
              <a:t>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402336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R$ 13,50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44165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D75"/>
                </a:solidFill>
                <a:latin typeface="Calibri"/>
              </a:rPr>
              <a:t>10% off cupom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703320"/>
            <a:ext cx="1325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379476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D75"/>
                </a:solidFill>
                <a:latin typeface="Calibri"/>
              </a:rPr>
              <a:t>PRÓXIMA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8" y="402336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R$ 9,00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8128" y="44165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D75"/>
                </a:solidFill>
                <a:latin typeface="Calibri"/>
              </a:rPr>
              <a:t>Com Applicash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46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4E3B"/>
                </a:solidFill>
                <a:latin typeface="Calibri"/>
              </a:rPr>
              <a:t>Applicash cobre 50% da sua próxima fatura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5120640"/>
            <a:ext cx="4114800" cy="16459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23760" y="5120640"/>
            <a:ext cx="205740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539496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3 indicados ativos · R$ 4,50 a abater · R$ 27,00 acumulado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3550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D75"/>
                </a:solidFill>
                <a:latin typeface="Calibri"/>
              </a:rPr>
              <a:t>Esquema da nova tela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Applicash visível e vendável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Programa de indicações conectado com a fatura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ANTES vs. AGORA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1D1D"/>
                </a:solidFill>
                <a:latin typeface="Calibri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Applicash em aba separada do app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Usuário não conectava cashback com fatura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Sem indicação visual de 'quanto eu vou pagar mês que vem'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Reativação após cancelamento perdia o cupom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4E3B"/>
                </a:solidFill>
                <a:latin typeface="Calibri"/>
              </a:rPr>
              <a:t>AGORA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Resumo Applicash dentro da tela de assinatura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Card 'Applicash cobre X% da sua próxima fatura'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Saldo, ganhos totais e indicados ativos em um clique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0B1410"/>
                </a:solidFill>
                <a:latin typeface="Calibri"/>
              </a:rPr>
              <a:t>•  Reativação preserva cupom — sem fricção pra voltar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MÉTRICAS QUE O CLIENTE PASSA A 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Calibri"/>
              </a:rPr>
              <a:t>3 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521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410"/>
                </a:solidFill>
                <a:latin typeface="Calibri"/>
              </a:rPr>
              <a:t>Indicados pagantes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26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D75"/>
                </a:solidFill>
                <a:latin typeface="Calibri"/>
              </a:rPr>
              <a:t>atualizado em tempo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9834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2578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Calibri"/>
              </a:rPr>
              <a:t>R$ 4,50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8521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410"/>
                </a:solidFill>
                <a:latin typeface="Calibri"/>
              </a:rPr>
              <a:t>Saldo a abater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6126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D75"/>
                </a:solidFill>
                <a:latin typeface="Calibri"/>
              </a:rPr>
              <a:t>aplicado na próxima fatura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98348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52578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59669"/>
                </a:solidFill>
                <a:latin typeface="Calibri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8521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1410"/>
                </a:solidFill>
                <a:latin typeface="Calibri"/>
              </a:rPr>
              <a:t>Cobertura próx. mês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6126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B7D75"/>
                </a:solidFill>
                <a:latin typeface="Calibri"/>
              </a:rPr>
              <a:t>transparência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Segurança em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Antes só backend · agora backend + banco em camada dupla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782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Camada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Agora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87828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Validação CPF/CNPJ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Só comprimento — '00000000000' passava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Dígito verificador real (módulo 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Anti-fraude de indicações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Bloqueava por uid e cookie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+ IP + CPF + indicador cancelado · check unificado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87828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Acesso ao banco via DevTools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Brechas em cancelamento, chargeback, cartão recusado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Camada dupla cobre TODOS os cenários problemáticos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CORS (proteção contra outros sites)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Aberto por padrão para qualquer origem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Configurável por domínio · whitelist explícita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87828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Salt de hashes anti-fraude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Valor público no código (qualquer um previa hashes)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Configurável por ambiente · gerado aleatório (64 chars)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Verificação de e-mail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Só logava warning · usuário podia esquecer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Banner pró-ativo + flip controlado para enforce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075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75885"/>
                </a:solidFill>
                <a:latin typeface="Calibri"/>
              </a:rPr>
              <a:t>🛡️  Mesmo que o atacante conheça o uid e bypass o backend pelo SDK direto, as regras do banco rejeitam.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Observabilidade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De 'vasculhar logs' para 'olhar o painel' em 5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ENDPOINT INTERNO /api/admin/stats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4A42"/>
                </a:solidFill>
                <a:latin typeface="Calibri"/>
              </a:rPr>
              <a:t>Painel protegido por token devolve um snapshot completo do produto. Pode ser bookmarkado no navegador.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943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Total de usuários e quantos pagantes ativos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Distribuição por status (trial · ativos · em atraso · cancelados)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Saldo de Applicash a abater · total ganho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Eventos de pagamento das últimas 24h e 7 dias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Hits de anti-fraude · com flag 'seguro ligar enforce?'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0B1410"/>
                </a:solidFill>
                <a:latin typeface="Calibri"/>
              </a:rPr>
              <a:t>•  Métodos de pagamento usados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91640"/>
            <a:ext cx="4663440" cy="4754880"/>
          </a:xfrm>
          <a:prstGeom prst="roundRect">
            <a:avLst>
              <a:gd name="adj" fmla="val 6000"/>
            </a:avLst>
          </a:prstGeom>
          <a:solidFill>
            <a:srgbClr val="0B1410"/>
          </a:solidFill>
          <a:ln w="9525">
            <a:solidFill>
              <a:srgbClr val="0B1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920240"/>
            <a:ext cx="4206240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{ "users":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"totalKnown": 87,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"unverifiedPassword": 12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"billing":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"active": 23,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"trialActive": 4,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"totalPendingCashback": 4500,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"totalEarnings": 18000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"webhooks":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"last24h": { "total": 12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"last7d":  { "total": 68 }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"rateLimits24h":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"suspiciousHits": 0 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"readinessHints":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"antifraudInitSafe": true,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A7F3D0"/>
                </a:solidFill>
                <a:latin typeface="Consolas"/>
              </a:rPr>
              <a:t>    "emailVerifyCandidates": 12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Performance e 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Tudo mais rápido + base sob 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59669"/>
                </a:solidFill>
                <a:latin typeface="Calibri"/>
              </a:rP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Mais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D75"/>
                </a:solidFill>
                <a:latin typeface="Calibri"/>
              </a:rPr>
              <a:t>Carregamento da tela 'Minha assinatura' — queries paralelas em vez de sequenciais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488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59669"/>
                </a:solidFill>
                <a:latin typeface="Calibri"/>
              </a:rPr>
              <a:t>&lt;300ms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Reabrir tela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204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D75"/>
                </a:solidFill>
                <a:latin typeface="Calibri"/>
              </a:rPr>
              <a:t>Stale-while-revalidate — mostra cache e atualiza em fundo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59669"/>
                </a:solidFill>
                <a:latin typeface="Calibri"/>
              </a:rPr>
              <a:t>Auto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Limpeza de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D75"/>
                </a:solidFill>
                <a:latin typeface="Calibri"/>
              </a:rPr>
              <a:t>Registros temporários (30 dias) são apagados sozinhos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82880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488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410"/>
                </a:solidFill>
                <a:latin typeface="Calibri"/>
              </a:rPr>
              <a:t>Custo extra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5204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D75"/>
                </a:solidFill>
                <a:latin typeface="Calibri"/>
              </a:rPr>
              <a:t>Mantém free tier · auto-limpeza reduz storage no tempo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🚀  POR QUE IMPORTA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1410"/>
                </a:solidFill>
                <a:latin typeface="Calibri"/>
              </a:rPr>
              <a:t>Cada décimo de segundo de espera na primeira tela após login é abandono. A tela 'Minha assinatura' é o lugar onde o cliente decide se</a:t>
            </a:r>
          </a:p>
          <a:p>
            <a:pPr algn="l"/>
            <a:r>
              <a:rPr sz="1200" b="0">
                <a:solidFill>
                  <a:srgbClr val="0B1410"/>
                </a:solidFill>
                <a:latin typeface="Calibri"/>
              </a:rPr>
              <a:t>confia na cobrança que vai chegar — qualquer espera reforça insegurança. Performance aqui é argumento de retenção, não detalhe técnico.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Roadmap conservador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Flips de segurança guiados por dado, não por sensação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84A42"/>
                </a:solidFill>
                <a:latin typeface="Calibri"/>
              </a:rPr>
              <a:t>Itens em 'log-only' propositalmente · ativados quando o painel mostrar que é seguro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4028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0350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Quando ativar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Sinal que valida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0350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Bloqueio anti-fraude no signup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2-4 semanas observando o painel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readinessHints.antifraudInitSafe = true por 14 dias seguidos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Exigir verificação de e-mail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Após contatar legados pendentes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emailVerifyEnforceCandidates → próximo de zero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60350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Bloqueio de auto-indicação por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Só se houver fraude desse tipo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Padrão visível em rateLimits24h.byScope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Camada extra de segurança em rules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Após verificação de e-mail estável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30 dias com enforce ativo sem incidentes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075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75885"/>
                </a:solidFill>
                <a:latin typeface="Calibri"/>
              </a:rPr>
              <a:t>⚙️  CADA ITEM = UMA VARIÁVEL DE AMBIENTE NO PAINEL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75885"/>
                </a:solidFill>
                <a:latin typeface="Calibri"/>
              </a:rPr>
              <a:t>Não precisa novo código nem deploy. 30 segundos por flip. Reversível.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Métricas para acompanhar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Cadência semanal · 5 minutos no 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Atenção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Assinantes 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Crescendo MoM (≥10%)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Plateauing 2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Conversão trial → pago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&gt; 25%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&lt; 15%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Churn (cancelamentos/mês)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&lt;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&gt;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Indicações ativas / total assinantes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&gt; 20%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&lt; 10%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Cashback acumulado a abater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Crescendo com 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Estagnado ou caindo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Falhas de cobrança (OVERDUE)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&gt; 5%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2578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Hits anti-fraude suspeitos/semana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&gt;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60807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64E3B"/>
                </a:solidFill>
                <a:latin typeface="Calibri"/>
              </a:rPr>
              <a:t>Todas essas métricas saem do mesmo endpoint /api/admin/stats — instalado nesta rodada.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410"/>
                </a:solidFill>
                <a:latin typeface="Calibri"/>
              </a:rPr>
              <a:t>Custo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D75"/>
                </a:solidFill>
                <a:latin typeface="Calibri"/>
              </a:rPr>
              <a:t>Sem aumento · auto-limpeza reduz no longo prazo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D75"/>
                </a:solidFill>
                <a:latin typeface="Calibri"/>
              </a:rPr>
              <a:t>Appliquei · Rodada de Melhorias · Maio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12064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Provedor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Modelo de custo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Mudança nesta rodada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1206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Frontend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Hobby /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Sem mudança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Banco de dados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Firestore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Pay-as-you-go · free tier diário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↓ Auto-limpeza reduz storage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  <a:tr h="51206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Pagamentos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% por transação · já contratado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Sem mudança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Autenticação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Firebase Auth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Free até 50K MAU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>
                          <a:solidFill>
                            <a:srgbClr val="0B1410"/>
                          </a:solidFill>
                          <a:latin typeface="Calibri"/>
                        </a:rPr>
                        <a:t>Sem mudança</a:t>
                      </a:r>
                    </a:p>
                  </a:txBody>
                  <a:tcPr>
                    <a:solidFill>
                      <a:srgbClr val="FBFD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5720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FREE TIER COBRE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410"/>
                </a:solidFill>
                <a:latin typeface="Calibri"/>
              </a:rPr>
              <a:t>≈ 5.000-10.000 usuários 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4A42"/>
                </a:solidFill>
                <a:latin typeface="Calibri"/>
              </a:rPr>
              <a:t>Antes de qualquer custo extra de banco — base mais que suficiente para o próximo ciclo de crescimento.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5720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4E3B"/>
                </a:solidFill>
                <a:latin typeface="Calibri"/>
              </a:rPr>
              <a:t>PROTEÇÃO ATIVADA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410"/>
                </a:solidFill>
                <a:latin typeface="Calibri"/>
              </a:rPr>
              <a:t>Alerta a R$ 5,00 de gasto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669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84A42"/>
                </a:solidFill>
                <a:latin typeface="Calibri"/>
              </a:rPr>
              <a:t>Orçamento configurado no Google Cloud com alerta em 25/50/90/100% — surpresa em conta é impossível.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7F3D0"/>
                </a:solidFill>
                <a:latin typeface="Calibri"/>
              </a:rPr>
              <a:t>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Pronto para crescer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7F3D0"/>
                </a:solidFill>
                <a:latin typeface="Calibri"/>
              </a:rPr>
              <a:t>Esta rodada fechou as brechas que poderiam custar receita ou frustrar clientes pagantes, elevou a tela de assinatura ao padrão visual de produtos consolidados, tornou o Applicash visível e vendável dentro do fluxo principal, e instalou as camadas de observabilidade e segurança necessárias para escalar com confiança.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7F3D0"/>
                </a:solidFill>
                <a:latin typeface="Calibri"/>
              </a:rPr>
              <a:t>PRÓXIMO MARCO SUGERIDO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7F3D0"/>
                </a:solidFill>
                <a:latin typeface="Calibri"/>
              </a:rPr>
              <a:t>Assinantes ativos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84632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5029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&gt; 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7150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7F3D0"/>
                </a:solidFill>
                <a:latin typeface="Calibri"/>
              </a:rPr>
              <a:t>Conversão trial → pago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8463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0292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&lt; 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7F3D0"/>
                </a:solidFill>
                <a:latin typeface="Calibri"/>
              </a:rPr>
              <a:t>Churn mensal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7F3D0"/>
                </a:solidFill>
                <a:latin typeface="Calibri"/>
              </a:rPr>
              <a:t>Estamos prontos para isso tecnicamente.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